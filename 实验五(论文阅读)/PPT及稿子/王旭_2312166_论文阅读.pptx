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57" r:id="rId5"/>
    <p:sldId id="258" r:id="rId6"/>
    <p:sldId id="269" r:id="rId7"/>
    <p:sldId id="270" r:id="rId8"/>
    <p:sldId id="271" r:id="rId9"/>
    <p:sldId id="272" r:id="rId10"/>
    <p:sldId id="274" r:id="rId11"/>
    <p:sldId id="275" r:id="rId12"/>
    <p:sldId id="276" r:id="rId13"/>
    <p:sldId id="277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84378"/>
    <a:srgbClr val="FFFFFF"/>
    <a:srgbClr val="54C3F4"/>
    <a:srgbClr val="22304B"/>
    <a:srgbClr val="C77FAC"/>
    <a:srgbClr val="0062AC"/>
    <a:srgbClr val="ED6C00"/>
    <a:srgbClr val="E2287E"/>
    <a:srgbClr val="2CA738"/>
    <a:srgbClr val="5A2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79686" autoAdjust="0"/>
  </p:normalViewPr>
  <p:slideViewPr>
    <p:cSldViewPr snapToGrid="0">
      <p:cViewPr varScale="1">
        <p:scale>
          <a:sx n="110" d="100"/>
          <a:sy n="110" d="100"/>
        </p:scale>
        <p:origin x="126" y="528"/>
      </p:cViewPr>
      <p:guideLst/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852551"/>
          </a:xfrm>
          <a:solidFill>
            <a:srgbClr val="0062AC"/>
          </a:solidFill>
        </p:spPr>
        <p:txBody>
          <a:bodyPr anchor="ctr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defRPr sz="4000" b="1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>
              <a:lnSpc>
                <a:spcPct val="120000"/>
              </a:lnSpc>
              <a:defRPr sz="3200" b="1" i="0" baseline="0"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000" b="0" i="0" baseline="0">
                <a:ea typeface="华文楷体" panose="02010600040101010101" pitchFamily="2" charset="-122"/>
              </a:defRPr>
            </a:lvl2pPr>
            <a:lvl3pPr>
              <a:lnSpc>
                <a:spcPct val="120000"/>
              </a:lnSpc>
              <a:defRPr sz="2800" b="0" i="0" baseline="0">
                <a:ea typeface="华文新魏" panose="02010800040101010101" pitchFamily="2" charset="-122"/>
              </a:defRPr>
            </a:lvl3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Line 1"/>
          <p:cNvSpPr>
            <a:spLocks noChangeShapeType="1"/>
          </p:cNvSpPr>
          <p:nvPr userDrawn="1"/>
        </p:nvSpPr>
        <p:spPr bwMode="auto">
          <a:xfrm>
            <a:off x="0" y="669131"/>
            <a:ext cx="12192000" cy="0"/>
          </a:xfrm>
          <a:prstGeom prst="line">
            <a:avLst/>
          </a:prstGeom>
          <a:noFill/>
          <a:ln w="25400">
            <a:solidFill>
              <a:srgbClr val="0062AC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1293947" y="6580997"/>
            <a:ext cx="898052" cy="306705"/>
          </a:xfrm>
          <a:prstGeom prst="rect">
            <a:avLst/>
          </a:prstGeom>
          <a:solidFill>
            <a:srgbClr val="ED6C00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1178636" cy="890648"/>
          </a:xfrm>
          <a:prstGeom prst="rect">
            <a:avLst/>
          </a:prstGeom>
          <a:solidFill>
            <a:srgbClr val="0062AC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8060" y="6581140"/>
            <a:ext cx="7370233" cy="30670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chemeClr val="bg1"/>
                </a:solidFill>
              </a:rPr>
              <a:t>大规模图像的多粒度目标检测</a:t>
            </a:r>
            <a:endParaRPr lang="zh-CN" altLang="en-US" sz="1400" b="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81140"/>
            <a:ext cx="3528060" cy="3067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程明明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http://mmcheng.net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8293" y="6581140"/>
            <a:ext cx="1292860" cy="3067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fld id="{C603BFBC-EF15-48A5-8249-0FEAC4BE5DBB}" type="slidenum">
              <a:rPr lang="en-US" sz="1400" smtClean="0">
                <a:solidFill>
                  <a:schemeClr val="bg1"/>
                </a:solidFill>
              </a:rPr>
            </a:fld>
            <a:endParaRPr lang="en-US" sz="14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4128" y="0"/>
            <a:ext cx="12200255" cy="3218815"/>
          </a:xfrm>
        </p:spPr>
        <p:txBody>
          <a:bodyPr>
            <a:normAutofit/>
          </a:bodyPr>
          <a:lstStyle/>
          <a:p>
            <a:pPr algn="ctr"/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</a:t>
            </a:r>
            <a:endParaRPr lang="zh-CN" sz="4200"/>
          </a:p>
          <a:p>
            <a:pPr algn="ctr"/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for Path ORAM</a:t>
            </a:r>
            <a:endParaRPr lang="zh-CN" sz="4200"/>
          </a:p>
        </p:txBody>
      </p:sp>
      <p:sp>
        <p:nvSpPr>
          <p:cNvPr id="5" name="Subtitle 2"/>
          <p:cNvSpPr txBox="1"/>
          <p:nvPr/>
        </p:nvSpPr>
        <p:spPr>
          <a:xfrm>
            <a:off x="1794510" y="3492500"/>
            <a:ext cx="8602980" cy="2757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《数据安全》课程：</a:t>
            </a:r>
            <a:r>
              <a:rPr lang="zh-CN" sz="2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IEEE S&amp;P 2024 论文阅读汇报</a:t>
            </a:r>
            <a:endParaRPr lang="zh-CN" sz="2200"/>
          </a:p>
          <a:p>
            <a:pPr algn="ctr"/>
            <a:endParaRPr lang="zh-CN" sz="2200"/>
          </a:p>
          <a:p>
            <a:pPr algn="ctr"/>
            <a:r>
              <a:rPr lang="zh-CN" sz="2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论文方向：ORAM / TEE / 访问模式保护</a:t>
            </a:r>
            <a:endParaRPr lang="zh-CN" sz="2200"/>
          </a:p>
          <a:p>
            <a:pPr algn="ctr"/>
            <a:r>
              <a:rPr lang="zh-CN" sz="2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汇报人：王旭</a:t>
            </a:r>
            <a:r>
              <a:rPr lang="en-US" altLang="zh-CN" sz="2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-2312166</a:t>
            </a:r>
            <a:endParaRPr lang="en-US" altLang="zh-CN" sz="2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sz="2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2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指导老师：刘哲理老师</a:t>
            </a:r>
            <a:endParaRPr lang="zh-CN" sz="2200"/>
          </a:p>
        </p:txBody>
      </p:sp>
      <p:sp>
        <p:nvSpPr>
          <p:cNvPr id="6" name="Shape 6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7" name="Shape 7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8" name="Shape 8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10" name="Shape 10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11" name="Shape 11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汇报路线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749808" y="1508760"/>
            <a:ext cx="2148840" cy="62179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endParaRPr lang="zh-CN" sz="2100"/>
          </a:p>
        </p:txBody>
      </p:sp>
      <p:sp>
        <p:nvSpPr>
          <p:cNvPr id="4" name="Shape 4"/>
          <p:cNvSpPr txBox="1"/>
          <p:nvPr/>
        </p:nvSpPr>
        <p:spPr>
          <a:xfrm>
            <a:off x="749808" y="2331720"/>
            <a:ext cx="2148840" cy="7498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访问模式泄漏</a:t>
            </a:r>
            <a:endParaRPr lang="zh-CN" sz="1800"/>
          </a:p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与 Path ORAM</a:t>
            </a:r>
            <a:endParaRPr lang="zh-CN" sz="1800"/>
          </a:p>
        </p:txBody>
      </p:sp>
      <p:cxnSp>
        <p:nvCxnSpPr>
          <p:cNvPr id="5" name="Line 5"/>
          <p:cNvCxnSpPr/>
          <p:nvPr/>
        </p:nvCxnSpPr>
        <p:spPr>
          <a:xfrm>
            <a:off x="2962656" y="1819656"/>
            <a:ext cx="384048" cy="0"/>
          </a:xfrm>
          <a:prstGeom prst="line">
            <a:avLst/>
          </a:prstGeom>
          <a:ln w="25400">
            <a:solidFill>
              <a:srgbClr val="1E4E8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3538728" y="1508760"/>
            <a:ext cx="2148840" cy="62179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sz="2100"/>
          </a:p>
        </p:txBody>
      </p:sp>
      <p:sp>
        <p:nvSpPr>
          <p:cNvPr id="7" name="Shape 7"/>
          <p:cNvSpPr txBox="1"/>
          <p:nvPr/>
        </p:nvSpPr>
        <p:spPr>
          <a:xfrm>
            <a:off x="3538728" y="2331720"/>
            <a:ext cx="2148840" cy="7498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TEE 场景下的</a:t>
            </a:r>
            <a:endParaRPr lang="zh-CN" sz="1800"/>
          </a:p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ORAM bulk loading</a:t>
            </a:r>
            <a:endParaRPr lang="zh-CN" sz="1800"/>
          </a:p>
        </p:txBody>
      </p:sp>
      <p:cxnSp>
        <p:nvCxnSpPr>
          <p:cNvPr id="8" name="Line 8"/>
          <p:cNvCxnSpPr/>
          <p:nvPr/>
        </p:nvCxnSpPr>
        <p:spPr>
          <a:xfrm>
            <a:off x="5751576" y="1819656"/>
            <a:ext cx="384048" cy="0"/>
          </a:xfrm>
          <a:prstGeom prst="line">
            <a:avLst/>
          </a:prstGeom>
          <a:ln w="25400">
            <a:solidFill>
              <a:srgbClr val="1E4E8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327648" y="1508760"/>
            <a:ext cx="2148840" cy="62179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endParaRPr lang="zh-CN" sz="2100"/>
          </a:p>
        </p:txBody>
      </p:sp>
      <p:sp>
        <p:nvSpPr>
          <p:cNvPr id="10" name="Shape 10"/>
          <p:cNvSpPr txBox="1"/>
          <p:nvPr/>
        </p:nvSpPr>
        <p:spPr>
          <a:xfrm>
            <a:off x="6327648" y="2331720"/>
            <a:ext cx="2148840" cy="7498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Bulkor 如何安全地</a:t>
            </a:r>
            <a:endParaRPr lang="zh-CN" sz="1800"/>
          </a:p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批量构建 ORAM</a:t>
            </a:r>
            <a:endParaRPr lang="zh-CN" sz="1800"/>
          </a:p>
        </p:txBody>
      </p:sp>
      <p:cxnSp>
        <p:nvCxnSpPr>
          <p:cNvPr id="11" name="Line 11"/>
          <p:cNvCxnSpPr/>
          <p:nvPr/>
        </p:nvCxnSpPr>
        <p:spPr>
          <a:xfrm>
            <a:off x="8540496" y="1819656"/>
            <a:ext cx="384048" cy="0"/>
          </a:xfrm>
          <a:prstGeom prst="line">
            <a:avLst/>
          </a:prstGeom>
          <a:ln w="25400">
            <a:solidFill>
              <a:srgbClr val="1E4E8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9116568" y="1508760"/>
            <a:ext cx="2148840" cy="62179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评价</a:t>
            </a:r>
            <a:endParaRPr lang="zh-CN" sz="2100"/>
          </a:p>
        </p:txBody>
      </p:sp>
      <p:sp>
        <p:nvSpPr>
          <p:cNvPr id="13" name="Shape 13"/>
          <p:cNvSpPr txBox="1"/>
          <p:nvPr/>
        </p:nvSpPr>
        <p:spPr>
          <a:xfrm>
            <a:off x="9116568" y="2331720"/>
            <a:ext cx="2148840" cy="7498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实验结果、贡献</a:t>
            </a:r>
            <a:endParaRPr lang="zh-CN" sz="1800"/>
          </a:p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与个人思考</a:t>
            </a:r>
            <a:endParaRPr lang="zh-CN" sz="1800"/>
          </a:p>
        </p:txBody>
      </p:sp>
      <p:sp>
        <p:nvSpPr>
          <p:cNvPr id="14" name="Shape 14"/>
          <p:cNvSpPr txBox="1"/>
          <p:nvPr/>
        </p:nvSpPr>
        <p:spPr>
          <a:xfrm>
            <a:off x="1280160" y="4645152"/>
            <a:ext cx="9692640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1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目标：先讲清楚问题，再讲清楚 Bulkor 的核心。</a:t>
            </a:r>
            <a:endParaRPr lang="zh-CN" sz="2100"/>
          </a:p>
        </p:txBody>
      </p:sp>
      <p:sp>
        <p:nvSpPr>
          <p:cNvPr id="15" name="Shape 15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19" name="Shape 19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20" name="Shape 20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只加密数据为什么还不够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777240" y="932688"/>
            <a:ext cx="1078992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4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加密保护数据内容，但不自动隐藏访问行为</a:t>
            </a:r>
            <a:endParaRPr lang="zh-CN" sz="2400"/>
          </a:p>
        </p:txBody>
      </p:sp>
      <p:sp>
        <p:nvSpPr>
          <p:cNvPr id="4" name="Shape 4"/>
          <p:cNvSpPr txBox="1"/>
          <p:nvPr/>
        </p:nvSpPr>
        <p:spPr>
          <a:xfrm>
            <a:off x="822960" y="2377440"/>
            <a:ext cx="1600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Client</a:t>
            </a:r>
            <a:endParaRPr lang="zh-CN" sz="1800"/>
          </a:p>
        </p:txBody>
      </p:sp>
      <p:sp>
        <p:nvSpPr>
          <p:cNvPr id="5" name="Shape 5"/>
          <p:cNvSpPr txBox="1"/>
          <p:nvPr/>
        </p:nvSpPr>
        <p:spPr>
          <a:xfrm>
            <a:off x="8778240" y="2176272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Cloud Server</a:t>
            </a:r>
            <a:endParaRPr lang="zh-CN" sz="1700"/>
          </a:p>
          <a:p>
            <a:pPr algn="ctr"/>
            <a:r>
              <a:rPr lang="zh-CN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Encrypted Data</a:t>
            </a:r>
            <a:endParaRPr lang="zh-CN" sz="1700"/>
          </a:p>
        </p:txBody>
      </p:sp>
      <p:sp>
        <p:nvSpPr>
          <p:cNvPr id="7" name="Shape 7"/>
          <p:cNvSpPr txBox="1"/>
          <p:nvPr/>
        </p:nvSpPr>
        <p:spPr>
          <a:xfrm>
            <a:off x="3399790" y="2240280"/>
            <a:ext cx="4295775" cy="255905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00" b="1">
                <a:solidFill>
                  <a:srgbClr val="178A46"/>
                </a:solidFill>
                <a:latin typeface="微软雅黑" panose="020B0503020204020204" charset="-122"/>
                <a:ea typeface="微软雅黑" panose="020B0503020204020204" charset="-122"/>
              </a:rPr>
              <a:t>密文内容安全，</a:t>
            </a:r>
            <a:r>
              <a:rPr lang="zh-CN" altLang="en-US" sz="1600" b="1">
                <a:solidFill>
                  <a:srgbClr val="178A46"/>
                </a:solidFill>
                <a:latin typeface="微软雅黑" panose="020B0503020204020204" charset="-122"/>
                <a:ea typeface="微软雅黑" panose="020B0503020204020204" charset="-122"/>
              </a:rPr>
              <a:t>但轨迹可见</a:t>
            </a:r>
            <a:endParaRPr lang="zh-CN" altLang="en-US" sz="1600" b="1">
              <a:solidFill>
                <a:srgbClr val="178A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3154680" y="3730752"/>
            <a:ext cx="521208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访问地址 / 访问顺序 / 访问频率仍可能可见</a:t>
            </a:r>
            <a:endParaRPr lang="zh-CN" sz="2000"/>
          </a:p>
        </p:txBody>
      </p:sp>
      <p:sp>
        <p:nvSpPr>
          <p:cNvPr id="9" name="Shape 9"/>
          <p:cNvSpPr/>
          <p:nvPr/>
        </p:nvSpPr>
        <p:spPr>
          <a:xfrm>
            <a:off x="1143000" y="4736592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371600" y="4663440"/>
            <a:ext cx="9646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加密数据库：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访问了哪些索引页可能暴露查询条件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1143000" y="5193792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1371600" y="5120640"/>
            <a:ext cx="9646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云存储：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频繁访问某文件可能暴露用户行为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15" name="Shape 15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17" name="Shape 17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18" name="Shape 18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000"/>
          </a:p>
        </p:txBody>
      </p:sp>
      <p:cxnSp>
        <p:nvCxnSpPr>
          <p:cNvPr id="19" name="Line 7"/>
          <p:cNvCxnSpPr/>
          <p:nvPr/>
        </p:nvCxnSpPr>
        <p:spPr>
          <a:xfrm rot="10800000">
            <a:off x="2555748" y="2660523"/>
            <a:ext cx="608990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Shape 7"/>
          <p:cNvSpPr txBox="1"/>
          <p:nvPr/>
        </p:nvSpPr>
        <p:spPr>
          <a:xfrm>
            <a:off x="3399790" y="2861945"/>
            <a:ext cx="4295775" cy="286385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00" b="1">
                <a:solidFill>
                  <a:srgbClr val="178A46"/>
                </a:solidFill>
                <a:latin typeface="微软雅黑" panose="020B0503020204020204" charset="-122"/>
                <a:ea typeface="微软雅黑" panose="020B0503020204020204" charset="-122"/>
              </a:rPr>
              <a:t>会暴露</a:t>
            </a:r>
            <a:r>
              <a:rPr lang="zh-CN" altLang="en-US" sz="1600" b="1">
                <a:solidFill>
                  <a:srgbClr val="178A46"/>
                </a:solidFill>
                <a:latin typeface="微软雅黑" panose="020B0503020204020204" charset="-122"/>
                <a:ea typeface="微软雅黑" panose="020B0503020204020204" charset="-122"/>
              </a:rPr>
              <a:t>访问模式</a:t>
            </a:r>
            <a:r>
              <a:rPr lang="en-US" altLang="zh-CN" sz="1600" b="1">
                <a:solidFill>
                  <a:srgbClr val="178A4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>
                <a:solidFill>
                  <a:srgbClr val="178A4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access pattern</a:t>
            </a:r>
            <a:endParaRPr lang="en-US" altLang="zh-CN" sz="1600" b="1">
              <a:solidFill>
                <a:srgbClr val="178A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ORAM 与 Path ORAM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777240" y="932688"/>
            <a:ext cx="1051560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3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ORAM 的目标：让服务器看不出真实访问目标</a:t>
            </a:r>
            <a:endParaRPr lang="zh-CN" sz="2300"/>
          </a:p>
        </p:txBody>
      </p:sp>
      <p:pic>
        <p:nvPicPr>
          <p:cNvPr id="4" name="fig_path_oram_full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48640" y="1444752"/>
            <a:ext cx="11109960" cy="2651760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868680" y="4690872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1097280" y="4617720"/>
            <a:ext cx="101041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服务器存储是一棵二叉树</a:t>
            </a:r>
            <a:endParaRPr lang="zh-CN" sz="1620"/>
          </a:p>
        </p:txBody>
      </p:sp>
      <p:sp>
        <p:nvSpPr>
          <p:cNvPr id="8" name="Shape 8"/>
          <p:cNvSpPr/>
          <p:nvPr/>
        </p:nvSpPr>
        <p:spPr>
          <a:xfrm>
            <a:off x="868680" y="5020056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97280" y="4946904"/>
            <a:ext cx="101041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每个块随机绑定一个 leaf label</a:t>
            </a:r>
            <a:endParaRPr lang="zh-CN" sz="1620"/>
          </a:p>
        </p:txBody>
      </p:sp>
      <p:sp>
        <p:nvSpPr>
          <p:cNvPr id="10" name="Shape 10"/>
          <p:cNvSpPr/>
          <p:nvPr/>
        </p:nvSpPr>
        <p:spPr>
          <a:xfrm>
            <a:off x="868680" y="5349240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1097280" y="5276088"/>
            <a:ext cx="101041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块必须在对应路径上，或在 stash 中</a:t>
            </a:r>
            <a:endParaRPr lang="zh-CN" sz="1620"/>
          </a:p>
        </p:txBody>
      </p:sp>
      <p:sp>
        <p:nvSpPr>
          <p:cNvPr id="12" name="Shape 12"/>
          <p:cNvSpPr/>
          <p:nvPr/>
        </p:nvSpPr>
        <p:spPr>
          <a:xfrm>
            <a:off x="868680" y="5678424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1097280" y="5605272"/>
            <a:ext cx="101041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每次访问读取整条路径，混淆真实目标</a:t>
            </a:r>
            <a:endParaRPr lang="zh-CN" sz="1620"/>
          </a:p>
        </p:txBody>
      </p:sp>
      <p:sp>
        <p:nvSpPr>
          <p:cNvPr id="14" name="Shape 14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5" name="Shape 15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16" name="Shape 16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18" name="Shape 18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19" name="Shape 19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1000"/>
          </a:p>
        </p:txBody>
      </p:sp>
      <p:sp>
        <p:nvSpPr>
          <p:cNvPr id="20" name="文本框 19"/>
          <p:cNvSpPr txBox="1"/>
          <p:nvPr/>
        </p:nvSpPr>
        <p:spPr>
          <a:xfrm>
            <a:off x="8533130" y="4857115"/>
            <a:ext cx="2231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Path ORAM</a:t>
            </a:r>
            <a:endParaRPr lang="en-US" altLang="zh-CN" sz="3200"/>
          </a:p>
        </p:txBody>
      </p:sp>
      <p:sp>
        <p:nvSpPr>
          <p:cNvPr id="22" name="左箭头 21"/>
          <p:cNvSpPr/>
          <p:nvPr/>
        </p:nvSpPr>
        <p:spPr>
          <a:xfrm>
            <a:off x="5093335" y="4998720"/>
            <a:ext cx="2886710" cy="30734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TEE 带来的机会与新问题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731520" y="2240280"/>
            <a:ext cx="14630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Client</a:t>
            </a:r>
            <a:endParaRPr lang="zh-CN" sz="1600"/>
          </a:p>
        </p:txBody>
      </p:sp>
      <p:sp>
        <p:nvSpPr>
          <p:cNvPr id="4" name="Shape 4"/>
          <p:cNvSpPr txBox="1"/>
          <p:nvPr/>
        </p:nvSpPr>
        <p:spPr>
          <a:xfrm>
            <a:off x="4617720" y="1965960"/>
            <a:ext cx="2331720" cy="98755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TEE Enclave</a:t>
            </a:r>
            <a:endParaRPr lang="zh-CN" sz="1600"/>
          </a:p>
          <a:p>
            <a:pPr algn="ctr"/>
            <a:r>
              <a:rPr 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ORAM Controller</a:t>
            </a:r>
            <a:endParaRPr lang="zh-CN" sz="1600"/>
          </a:p>
        </p:txBody>
      </p:sp>
      <p:sp>
        <p:nvSpPr>
          <p:cNvPr id="5" name="Shape 5"/>
          <p:cNvSpPr txBox="1"/>
          <p:nvPr/>
        </p:nvSpPr>
        <p:spPr>
          <a:xfrm>
            <a:off x="9281160" y="2057400"/>
            <a:ext cx="2057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Untrusted Storage</a:t>
            </a:r>
            <a:endParaRPr lang="zh-CN" sz="1500"/>
          </a:p>
          <a:p>
            <a:pPr algn="ctr"/>
            <a:r>
              <a:rPr lang="zh-CN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ORAM Tree</a:t>
            </a:r>
            <a:endParaRPr lang="zh-CN" sz="1500"/>
          </a:p>
        </p:txBody>
      </p:sp>
      <p:cxnSp>
        <p:nvCxnSpPr>
          <p:cNvPr id="6" name="Line 6"/>
          <p:cNvCxnSpPr/>
          <p:nvPr/>
        </p:nvCxnSpPr>
        <p:spPr>
          <a:xfrm>
            <a:off x="2423160" y="2523744"/>
            <a:ext cx="1947672" cy="0"/>
          </a:xfrm>
          <a:prstGeom prst="line">
            <a:avLst/>
          </a:prstGeom>
          <a:ln w="25400">
            <a:solidFill>
              <a:srgbClr val="1E4E8C"/>
            </a:solidFill>
            <a:headEnd type="triangle" w="med" len="med"/>
          </a:ln>
        </p:spPr>
      </p:cxnSp>
      <p:cxnSp>
        <p:nvCxnSpPr>
          <p:cNvPr id="7" name="Line 7"/>
          <p:cNvCxnSpPr/>
          <p:nvPr/>
        </p:nvCxnSpPr>
        <p:spPr>
          <a:xfrm>
            <a:off x="7150608" y="2523744"/>
            <a:ext cx="1883664" cy="0"/>
          </a:xfrm>
          <a:prstGeom prst="line">
            <a:avLst/>
          </a:prstGeom>
          <a:ln w="25400">
            <a:solidFill>
              <a:srgbClr val="1E4E8C"/>
            </a:solidFill>
            <a:headEnd type="triangle" w="med" len="med"/>
          </a:ln>
        </p:spPr>
      </p:cxnSp>
      <p:sp>
        <p:nvSpPr>
          <p:cNvPr id="8" name="Shape 8"/>
          <p:cNvSpPr txBox="1"/>
          <p:nvPr/>
        </p:nvSpPr>
        <p:spPr>
          <a:xfrm>
            <a:off x="7137400" y="1412240"/>
            <a:ext cx="310896" cy="310896"/>
          </a:xfrm>
          <a:prstGeom prst="ellipse">
            <a:avLst/>
          </a:prstGeom>
          <a:solidFill>
            <a:srgbClr val="FFF4F4"/>
          </a:solidFill>
          <a:ln w="12700">
            <a:solidFill>
              <a:srgbClr val="C00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100"/>
          </a:p>
        </p:txBody>
      </p:sp>
      <p:sp>
        <p:nvSpPr>
          <p:cNvPr id="9" name="Shape 9"/>
          <p:cNvSpPr txBox="1"/>
          <p:nvPr/>
        </p:nvSpPr>
        <p:spPr>
          <a:xfrm>
            <a:off x="7503160" y="1444752"/>
            <a:ext cx="283464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外部观察：存储访问轨迹</a:t>
            </a:r>
            <a:endParaRPr lang="zh-CN" sz="1350"/>
          </a:p>
        </p:txBody>
      </p:sp>
      <p:sp>
        <p:nvSpPr>
          <p:cNvPr id="10" name="Shape 10"/>
          <p:cNvSpPr txBox="1"/>
          <p:nvPr/>
        </p:nvSpPr>
        <p:spPr>
          <a:xfrm>
            <a:off x="3870960" y="3249168"/>
            <a:ext cx="310896" cy="310896"/>
          </a:xfrm>
          <a:prstGeom prst="ellipse">
            <a:avLst/>
          </a:prstGeom>
          <a:solidFill>
            <a:srgbClr val="FFF4F4"/>
          </a:solidFill>
          <a:ln w="12700">
            <a:solidFill>
              <a:srgbClr val="C00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100"/>
          </a:p>
        </p:txBody>
      </p:sp>
      <p:sp>
        <p:nvSpPr>
          <p:cNvPr id="11" name="Shape 11"/>
          <p:cNvSpPr txBox="1"/>
          <p:nvPr/>
        </p:nvSpPr>
        <p:spPr>
          <a:xfrm>
            <a:off x="4236720" y="3291840"/>
            <a:ext cx="384048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3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内部侧信道：enclave 访问模式</a:t>
            </a:r>
            <a:endParaRPr lang="zh-CN" sz="1350"/>
          </a:p>
        </p:txBody>
      </p:sp>
      <p:sp>
        <p:nvSpPr>
          <p:cNvPr id="12" name="Shape 12"/>
          <p:cNvSpPr txBox="1"/>
          <p:nvPr/>
        </p:nvSpPr>
        <p:spPr>
          <a:xfrm>
            <a:off x="868680" y="3977640"/>
            <a:ext cx="822960" cy="384048"/>
          </a:xfrm>
          <a:prstGeom prst="roundRect">
            <a:avLst/>
          </a:prstGeom>
          <a:solidFill>
            <a:srgbClr val="178A46"/>
          </a:solidFill>
          <a:ln w="12700">
            <a:solidFill>
              <a:srgbClr val="178A46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机会</a:t>
            </a:r>
            <a:endParaRPr lang="zh-CN" sz="1300"/>
          </a:p>
        </p:txBody>
      </p:sp>
      <p:sp>
        <p:nvSpPr>
          <p:cNvPr id="13" name="Shape 13"/>
          <p:cNvSpPr/>
          <p:nvPr/>
        </p:nvSpPr>
        <p:spPr>
          <a:xfrm>
            <a:off x="868680" y="4572000"/>
            <a:ext cx="91440" cy="91440"/>
          </a:xfrm>
          <a:prstGeom prst="ellipse">
            <a:avLst/>
          </a:prstGeom>
          <a:solidFill>
            <a:srgbClr val="178A46"/>
          </a:solidFill>
          <a:ln w="12700">
            <a:solidFill>
              <a:srgbClr val="178A46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1097280" y="4498848"/>
            <a:ext cx="475488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4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ORAM controller 放入 enclave</a:t>
            </a:r>
            <a:endParaRPr lang="zh-CN" sz="1450"/>
          </a:p>
        </p:txBody>
      </p:sp>
      <p:sp>
        <p:nvSpPr>
          <p:cNvPr id="15" name="Shape 15"/>
          <p:cNvSpPr/>
          <p:nvPr/>
        </p:nvSpPr>
        <p:spPr>
          <a:xfrm>
            <a:off x="868680" y="4901184"/>
            <a:ext cx="91440" cy="91440"/>
          </a:xfrm>
          <a:prstGeom prst="ellipse">
            <a:avLst/>
          </a:prstGeom>
          <a:solidFill>
            <a:srgbClr val="178A46"/>
          </a:solidFill>
          <a:ln w="12700">
            <a:solidFill>
              <a:srgbClr val="178A46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1097280" y="4828032"/>
            <a:ext cx="475488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4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大量路径访问在服务器本地完成</a:t>
            </a:r>
            <a:endParaRPr lang="zh-CN" sz="1450"/>
          </a:p>
        </p:txBody>
      </p:sp>
      <p:sp>
        <p:nvSpPr>
          <p:cNvPr id="17" name="Shape 17"/>
          <p:cNvSpPr/>
          <p:nvPr/>
        </p:nvSpPr>
        <p:spPr>
          <a:xfrm>
            <a:off x="868680" y="5230368"/>
            <a:ext cx="91440" cy="91440"/>
          </a:xfrm>
          <a:prstGeom prst="ellipse">
            <a:avLst/>
          </a:prstGeom>
          <a:solidFill>
            <a:srgbClr val="178A46"/>
          </a:solidFill>
          <a:ln w="12700">
            <a:solidFill>
              <a:srgbClr val="178A46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1097280" y="5157216"/>
            <a:ext cx="475488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4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减少客户端与服务器网络通信</a:t>
            </a:r>
            <a:endParaRPr lang="zh-CN" sz="1450"/>
          </a:p>
        </p:txBody>
      </p:sp>
      <p:sp>
        <p:nvSpPr>
          <p:cNvPr id="19" name="Shape 19"/>
          <p:cNvSpPr txBox="1"/>
          <p:nvPr/>
        </p:nvSpPr>
        <p:spPr>
          <a:xfrm>
            <a:off x="6263640" y="3977640"/>
            <a:ext cx="1005840" cy="384048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新问题</a:t>
            </a:r>
            <a:endParaRPr lang="zh-CN" sz="1300"/>
          </a:p>
        </p:txBody>
      </p:sp>
      <p:sp>
        <p:nvSpPr>
          <p:cNvPr id="20" name="Shape 20"/>
          <p:cNvSpPr/>
          <p:nvPr/>
        </p:nvSpPr>
        <p:spPr>
          <a:xfrm>
            <a:off x="6263640" y="4572000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6492240" y="4498848"/>
            <a:ext cx="46634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4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TEE 保护数据值</a:t>
            </a:r>
            <a:endParaRPr lang="zh-CN" sz="1450"/>
          </a:p>
        </p:txBody>
      </p:sp>
      <p:sp>
        <p:nvSpPr>
          <p:cNvPr id="22" name="Shape 22"/>
          <p:cNvSpPr/>
          <p:nvPr/>
        </p:nvSpPr>
        <p:spPr>
          <a:xfrm>
            <a:off x="6263640" y="4956048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6492240" y="4882896"/>
            <a:ext cx="46634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4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但不一定隐藏 enclave 内部访问模式</a:t>
            </a:r>
            <a:endParaRPr lang="zh-CN" sz="1450"/>
          </a:p>
        </p:txBody>
      </p:sp>
      <p:sp>
        <p:nvSpPr>
          <p:cNvPr id="24" name="Shape 24"/>
          <p:cNvSpPr txBox="1"/>
          <p:nvPr/>
        </p:nvSpPr>
        <p:spPr>
          <a:xfrm>
            <a:off x="914400" y="5760720"/>
            <a:ext cx="1046988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5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Doubly-oblivious</a:t>
            </a:r>
            <a:r>
              <a:rPr lang="en-US" altLang="zh-CN" sz="165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sz="165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TEE 外部访问模式 + TEE 内部访问模式都要隐藏</a:t>
            </a:r>
            <a:endParaRPr lang="zh-CN" sz="1650"/>
          </a:p>
        </p:txBody>
      </p:sp>
      <p:sp>
        <p:nvSpPr>
          <p:cNvPr id="25" name="Shape 25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26" name="Shape 26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27" name="Shape 27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28" name="Shape 28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29" name="Shape 29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30" name="Shape 30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本文问题：如何批量构建 ORAM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822960" y="932688"/>
            <a:ext cx="1033272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2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输入是普通数据数组，目标是一次性构建合法的 Path ORAM 状态</a:t>
            </a:r>
            <a:endParaRPr lang="zh-CN" sz="2200"/>
          </a:p>
        </p:txBody>
      </p:sp>
      <p:pic>
        <p:nvPicPr>
          <p:cNvPr id="4" name="fig_bulk_loading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446520" cy="3401568"/>
          </a:xfrm>
          <a:prstGeom prst="rect">
            <a:avLst/>
          </a:prstGeom>
        </p:spPr>
      </p:pic>
      <p:sp>
        <p:nvSpPr>
          <p:cNvPr id="5" name="Shape 5"/>
          <p:cNvSpPr txBox="1"/>
          <p:nvPr/>
        </p:nvSpPr>
        <p:spPr>
          <a:xfrm>
            <a:off x="9334500" y="1742440"/>
            <a:ext cx="1417320" cy="50292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ORAM tree T</a:t>
            </a:r>
            <a:endParaRPr lang="zh-CN" sz="1350"/>
          </a:p>
        </p:txBody>
      </p:sp>
      <p:sp>
        <p:nvSpPr>
          <p:cNvPr id="6" name="Shape 6"/>
          <p:cNvSpPr txBox="1"/>
          <p:nvPr/>
        </p:nvSpPr>
        <p:spPr>
          <a:xfrm>
            <a:off x="9438640" y="2616200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stash S</a:t>
            </a:r>
            <a:endParaRPr lang="zh-CN" sz="1350"/>
          </a:p>
        </p:txBody>
      </p:sp>
      <p:sp>
        <p:nvSpPr>
          <p:cNvPr id="7" name="Shape 7"/>
          <p:cNvSpPr txBox="1"/>
          <p:nvPr/>
        </p:nvSpPr>
        <p:spPr>
          <a:xfrm>
            <a:off x="8600440" y="3307080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position map P</a:t>
            </a:r>
            <a:endParaRPr lang="zh-CN" sz="1350"/>
          </a:p>
        </p:txBody>
      </p:sp>
      <p:sp>
        <p:nvSpPr>
          <p:cNvPr id="8" name="Shape 8"/>
          <p:cNvSpPr txBox="1"/>
          <p:nvPr/>
        </p:nvSpPr>
        <p:spPr>
          <a:xfrm>
            <a:off x="9168765" y="1374775"/>
            <a:ext cx="178943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5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endParaRPr lang="zh-CN" sz="1500"/>
          </a:p>
        </p:txBody>
      </p:sp>
      <p:cxnSp>
        <p:nvCxnSpPr>
          <p:cNvPr id="9" name="Line 9"/>
          <p:cNvCxnSpPr/>
          <p:nvPr/>
        </p:nvCxnSpPr>
        <p:spPr>
          <a:xfrm flipH="1">
            <a:off x="7178040" y="2081530"/>
            <a:ext cx="1825625" cy="848995"/>
          </a:xfrm>
          <a:prstGeom prst="line">
            <a:avLst/>
          </a:prstGeom>
          <a:ln w="25400">
            <a:solidFill>
              <a:srgbClr val="1E4E8C"/>
            </a:solidFill>
            <a:headEnd type="triangle" w="med" len="med"/>
          </a:ln>
        </p:spPr>
      </p:cxnSp>
      <p:sp>
        <p:nvSpPr>
          <p:cNvPr id="11" name="Shape 11"/>
          <p:cNvSpPr txBox="1"/>
          <p:nvPr/>
        </p:nvSpPr>
        <p:spPr>
          <a:xfrm>
            <a:off x="2606040" y="5230495"/>
            <a:ext cx="558800" cy="384175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挑战</a:t>
            </a:r>
            <a:endParaRPr lang="zh-CN" sz="1300"/>
          </a:p>
        </p:txBody>
      </p:sp>
      <p:sp>
        <p:nvSpPr>
          <p:cNvPr id="12" name="Shape 12"/>
          <p:cNvSpPr/>
          <p:nvPr/>
        </p:nvSpPr>
        <p:spPr>
          <a:xfrm>
            <a:off x="3611880" y="5303520"/>
            <a:ext cx="7620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3840480" y="5230495"/>
            <a:ext cx="6038215" cy="292735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3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逐条插入太慢：O(N log³ N)</a:t>
            </a:r>
            <a:endParaRPr lang="zh-CN" sz="1530"/>
          </a:p>
        </p:txBody>
      </p:sp>
      <p:sp>
        <p:nvSpPr>
          <p:cNvPr id="14" name="Shape 14"/>
          <p:cNvSpPr/>
          <p:nvPr/>
        </p:nvSpPr>
        <p:spPr>
          <a:xfrm>
            <a:off x="3611880" y="5586730"/>
            <a:ext cx="7620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3840480" y="5513705"/>
            <a:ext cx="6038215" cy="292735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3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构建过程也不能泄漏访问模式，</a:t>
            </a:r>
            <a:r>
              <a:rPr lang="zh-CN" sz="153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且</a:t>
            </a:r>
            <a:r>
              <a:rPr lang="zh-CN" sz="153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构建过程本身也要 oblivious</a:t>
            </a:r>
            <a:endParaRPr lang="zh-CN" sz="1530"/>
          </a:p>
        </p:txBody>
      </p:sp>
      <p:sp>
        <p:nvSpPr>
          <p:cNvPr id="16" name="Shape 16"/>
          <p:cNvSpPr/>
          <p:nvPr/>
        </p:nvSpPr>
        <p:spPr>
          <a:xfrm>
            <a:off x="3611880" y="5870575"/>
            <a:ext cx="7620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3840480" y="5797550"/>
            <a:ext cx="6038215" cy="292735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3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输出分布必须和标准 Path ORAM 一致</a:t>
            </a:r>
            <a:endParaRPr lang="zh-CN" sz="1530"/>
          </a:p>
        </p:txBody>
      </p:sp>
      <p:sp>
        <p:nvSpPr>
          <p:cNvPr id="18" name="Shape 18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9" name="Shape 19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22" name="Shape 22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23" name="Shape 23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zh-C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看似自然但错误的方案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822960" y="932688"/>
            <a:ext cx="1033272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2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直觉方案：先 shuffle 再根据物理位置反推 leaf label</a:t>
            </a:r>
            <a:endParaRPr lang="zh-CN" sz="2200"/>
          </a:p>
        </p:txBody>
      </p:sp>
      <p:sp>
        <p:nvSpPr>
          <p:cNvPr id="4" name="Shape 4"/>
          <p:cNvSpPr txBox="1"/>
          <p:nvPr/>
        </p:nvSpPr>
        <p:spPr>
          <a:xfrm>
            <a:off x="777240" y="1828800"/>
            <a:ext cx="1234440" cy="384048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错误方案</a:t>
            </a:r>
            <a:endParaRPr lang="zh-CN" sz="1300"/>
          </a:p>
        </p:txBody>
      </p:sp>
      <p:sp>
        <p:nvSpPr>
          <p:cNvPr id="5" name="Shape 5"/>
          <p:cNvSpPr/>
          <p:nvPr/>
        </p:nvSpPr>
        <p:spPr>
          <a:xfrm>
            <a:off x="868680" y="2404872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1097280" y="2331720"/>
            <a:ext cx="3749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48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随机打乱所有数据块</a:t>
            </a:r>
            <a:endParaRPr lang="zh-CN" sz="1480"/>
          </a:p>
        </p:txBody>
      </p:sp>
      <p:sp>
        <p:nvSpPr>
          <p:cNvPr id="7" name="Shape 7"/>
          <p:cNvSpPr/>
          <p:nvPr/>
        </p:nvSpPr>
        <p:spPr>
          <a:xfrm>
            <a:off x="868680" y="2843784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1097280" y="2770632"/>
            <a:ext cx="3749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48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直接填进 ORAM tree</a:t>
            </a:r>
            <a:endParaRPr lang="zh-CN" sz="1480"/>
          </a:p>
        </p:txBody>
      </p:sp>
      <p:sp>
        <p:nvSpPr>
          <p:cNvPr id="9" name="Shape 9"/>
          <p:cNvSpPr/>
          <p:nvPr/>
        </p:nvSpPr>
        <p:spPr>
          <a:xfrm>
            <a:off x="868680" y="3282696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097280" y="3209544"/>
            <a:ext cx="3749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48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根据物理位置反推出 leaf label</a:t>
            </a:r>
            <a:endParaRPr lang="zh-CN" sz="1480"/>
          </a:p>
        </p:txBody>
      </p:sp>
      <p:pic>
        <p:nvPicPr>
          <p:cNvPr id="11" name="fig_insecur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4892040" y="1417320"/>
            <a:ext cx="5532120" cy="2724912"/>
          </a:xfrm>
          <a:prstGeom prst="rect">
            <a:avLst/>
          </a:prstGeom>
        </p:spPr>
      </p:pic>
      <p:sp>
        <p:nvSpPr>
          <p:cNvPr id="13" name="Shape 13"/>
          <p:cNvSpPr txBox="1"/>
          <p:nvPr/>
        </p:nvSpPr>
        <p:spPr>
          <a:xfrm>
            <a:off x="1005840" y="4773168"/>
            <a:ext cx="101498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1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随机打乱 ≠ 满足 ORAM 所需安全分布</a:t>
            </a:r>
            <a:endParaRPr lang="zh-CN" sz="2100"/>
          </a:p>
        </p:txBody>
      </p:sp>
      <p:sp>
        <p:nvSpPr>
          <p:cNvPr id="14" name="Shape 14"/>
          <p:cNvSpPr txBox="1"/>
          <p:nvPr/>
        </p:nvSpPr>
        <p:spPr>
          <a:xfrm>
            <a:off x="1280160" y="5358384"/>
            <a:ext cx="96012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7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后果：后续访问轨迹可能被区分。</a:t>
            </a:r>
            <a:endParaRPr lang="zh-CN" sz="1700"/>
          </a:p>
        </p:txBody>
      </p:sp>
      <p:sp>
        <p:nvSpPr>
          <p:cNvPr id="15" name="Shape 15"/>
          <p:cNvSpPr txBox="1"/>
          <p:nvPr/>
        </p:nvSpPr>
        <p:spPr>
          <a:xfrm>
            <a:off x="1280160" y="5808091"/>
            <a:ext cx="96012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根因：物理位置来自一个排列，不同块位置并非独立；反推出的 leaf label 也会产生相关性。</a:t>
            </a:r>
            <a:endParaRPr lang="zh-CN" sz="1350"/>
          </a:p>
        </p:txBody>
      </p:sp>
      <p:sp>
        <p:nvSpPr>
          <p:cNvPr id="16" name="Shape 16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7" name="Shape 17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18" name="Shape 18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20" name="Shape 20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21" name="Shape 21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Bulkor 的核心思想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914400" y="932688"/>
            <a:ext cx="1024128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5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先保证安全分布，再解决物理布局</a:t>
            </a:r>
            <a:endParaRPr lang="zh-CN" sz="2500"/>
          </a:p>
        </p:txBody>
      </p:sp>
      <p:sp>
        <p:nvSpPr>
          <p:cNvPr id="5" name="Shape 5"/>
          <p:cNvSpPr txBox="1"/>
          <p:nvPr/>
        </p:nvSpPr>
        <p:spPr>
          <a:xfrm>
            <a:off x="594360" y="5321808"/>
            <a:ext cx="1101852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6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流程：① 独立随机 leaf label  ② 递归 position map  ③ 调整 bucket ID  ④ obliviously place  ⑤ dummy fill</a:t>
            </a:r>
            <a:endParaRPr lang="zh-CN" sz="1360"/>
          </a:p>
        </p:txBody>
      </p:sp>
      <p:sp>
        <p:nvSpPr>
          <p:cNvPr id="6" name="Shape 6"/>
          <p:cNvSpPr txBox="1"/>
          <p:nvPr/>
        </p:nvSpPr>
        <p:spPr>
          <a:xfrm>
            <a:off x="3246120" y="5687568"/>
            <a:ext cx="23774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朴素方案：O(N log³ N)</a:t>
            </a:r>
            <a:endParaRPr lang="zh-CN" sz="1250"/>
          </a:p>
        </p:txBody>
      </p:sp>
      <p:sp>
        <p:nvSpPr>
          <p:cNvPr id="7" name="Shape 7"/>
          <p:cNvSpPr txBox="1"/>
          <p:nvPr/>
        </p:nvSpPr>
        <p:spPr>
          <a:xfrm>
            <a:off x="6446520" y="5687568"/>
            <a:ext cx="2240280" cy="329184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5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Bulkor：O(N log² N)</a:t>
            </a:r>
            <a:endParaRPr lang="zh-CN" sz="1250"/>
          </a:p>
        </p:txBody>
      </p:sp>
      <p:sp>
        <p:nvSpPr>
          <p:cNvPr id="8" name="Shape 8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9" name="Shape 9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10" name="Shape 10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12" name="Shape 12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13" name="Shape 13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zh-CN" sz="10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885" y="1500505"/>
            <a:ext cx="9272905" cy="3638550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>
          <a:xfrm>
            <a:off x="5697220" y="5797550"/>
            <a:ext cx="665480" cy="819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关键步骤一：递归构建 position map</a:t>
            </a:r>
            <a:endParaRPr lang="zh-CN" sz="2800"/>
          </a:p>
        </p:txBody>
      </p:sp>
      <p:cxnSp>
        <p:nvCxnSpPr>
          <p:cNvPr id="5" name="Line 5"/>
          <p:cNvCxnSpPr/>
          <p:nvPr/>
        </p:nvCxnSpPr>
        <p:spPr>
          <a:xfrm rot="10800000">
            <a:off x="3886200" y="1700784"/>
            <a:ext cx="3931920" cy="0"/>
          </a:xfrm>
          <a:prstGeom prst="line">
            <a:avLst/>
          </a:prstGeom>
          <a:ln w="25400">
            <a:solidFill>
              <a:srgbClr val="1E4E8C"/>
            </a:solidFill>
            <a:headEnd type="triangle" w="med" len="med"/>
          </a:ln>
        </p:spPr>
      </p:cxnSp>
      <p:sp>
        <p:nvSpPr>
          <p:cNvPr id="6" name="Shape 6"/>
          <p:cNvSpPr txBox="1"/>
          <p:nvPr/>
        </p:nvSpPr>
        <p:spPr>
          <a:xfrm>
            <a:off x="4663440" y="2606040"/>
            <a:ext cx="2331720" cy="5486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Top map</a:t>
            </a:r>
            <a:endParaRPr lang="zh-CN" sz="1400"/>
          </a:p>
          <a:p>
            <a:pPr algn="ctr"/>
            <a:r>
              <a:rPr lang="zh-CN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留在 enclave</a:t>
            </a:r>
            <a:endParaRPr lang="zh-CN" sz="1400"/>
          </a:p>
        </p:txBody>
      </p:sp>
      <p:sp>
        <p:nvSpPr>
          <p:cNvPr id="7" name="Shape 7"/>
          <p:cNvSpPr txBox="1"/>
          <p:nvPr/>
        </p:nvSpPr>
        <p:spPr>
          <a:xfrm>
            <a:off x="4069080" y="3337560"/>
            <a:ext cx="3520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ORAM for posmap</a:t>
            </a:r>
            <a:endParaRPr lang="zh-CN" sz="1400"/>
          </a:p>
        </p:txBody>
      </p:sp>
      <p:sp>
        <p:nvSpPr>
          <p:cNvPr id="8" name="Shape 8"/>
          <p:cNvSpPr txBox="1"/>
          <p:nvPr/>
        </p:nvSpPr>
        <p:spPr>
          <a:xfrm>
            <a:off x="3429000" y="4069080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ORAM for data</a:t>
            </a:r>
            <a:endParaRPr lang="zh-CN" sz="1400"/>
          </a:p>
        </p:txBody>
      </p:sp>
      <p:sp>
        <p:nvSpPr>
          <p:cNvPr id="9" name="Shape 9"/>
          <p:cNvSpPr/>
          <p:nvPr/>
        </p:nvSpPr>
        <p:spPr>
          <a:xfrm>
            <a:off x="1005840" y="5212080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234440" y="5138928"/>
            <a:ext cx="1001268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把 position map 本身也作为数据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1005840" y="5559552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1234440" y="5486400"/>
            <a:ext cx="1001268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递归构造成更小的 ORAM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1005840" y="5907024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1234440" y="5833872"/>
            <a:ext cx="1001268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最终顶层小 map 留在 TEE 中</a:t>
            </a:r>
            <a:endParaRPr lang="zh-CN" sz="1700"/>
          </a:p>
        </p:txBody>
      </p:sp>
      <p:sp>
        <p:nvSpPr>
          <p:cNvPr id="15" name="Shape 15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19" name="Shape 19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20" name="Shape 20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zh-CN" sz="1000"/>
          </a:p>
        </p:txBody>
      </p:sp>
      <p:sp>
        <p:nvSpPr>
          <p:cNvPr id="21" name="Shape 4"/>
          <p:cNvSpPr txBox="1"/>
          <p:nvPr/>
        </p:nvSpPr>
        <p:spPr>
          <a:xfrm>
            <a:off x="868680" y="1300988"/>
            <a:ext cx="28803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问题：map 可能太大</a:t>
            </a:r>
            <a:endParaRPr lang="zh-CN" sz="1600"/>
          </a:p>
          <a:p>
            <a:pPr algn="ctr"/>
            <a:r>
              <a:rPr lang="en-US" alt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enclave </a:t>
            </a:r>
            <a:r>
              <a:rPr lang="zh-CN" altLang="en-US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不能保存全部映射</a:t>
            </a:r>
            <a:endParaRPr lang="zh-CN" sz="1600"/>
          </a:p>
        </p:txBody>
      </p:sp>
      <p:sp>
        <p:nvSpPr>
          <p:cNvPr id="23" name="Shape 3"/>
          <p:cNvSpPr txBox="1"/>
          <p:nvPr/>
        </p:nvSpPr>
        <p:spPr>
          <a:xfrm>
            <a:off x="8138160" y="1305433"/>
            <a:ext cx="2788920" cy="80467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position map</a:t>
            </a:r>
            <a:endParaRPr lang="zh-CN" sz="1600"/>
          </a:p>
          <a:p>
            <a:pPr algn="ctr"/>
            <a:r>
              <a:rPr lang="zh-CN"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logical addr -&gt; leaf label</a:t>
            </a:r>
            <a:endParaRPr lang="zh-CN" sz="1600"/>
          </a:p>
        </p:txBody>
      </p:sp>
      <p:sp>
        <p:nvSpPr>
          <p:cNvPr id="24" name="Shape 8"/>
          <p:cNvSpPr txBox="1"/>
          <p:nvPr/>
        </p:nvSpPr>
        <p:spPr>
          <a:xfrm>
            <a:off x="4842510" y="1301242"/>
            <a:ext cx="17830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00" b="1">
                <a:solidFill>
                  <a:srgbClr val="178A46"/>
                </a:solidFill>
                <a:latin typeface="微软雅黑" panose="020B0503020204020204" charset="-122"/>
                <a:ea typeface="微软雅黑" panose="020B0503020204020204" charset="-122"/>
              </a:rPr>
              <a:t>解决方法</a:t>
            </a:r>
            <a:endParaRPr lang="zh-CN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关键步骤二：解决 bucket overflow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777240" y="932688"/>
            <a:ext cx="1051560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0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现象：独立随机 leaf label 后，某些叶桶可能超过容量</a:t>
            </a:r>
            <a:endParaRPr lang="zh-CN" sz="2000"/>
          </a:p>
        </p:txBody>
      </p:sp>
      <p:cxnSp>
        <p:nvCxnSpPr>
          <p:cNvPr id="4" name="Line 4"/>
          <p:cNvCxnSpPr/>
          <p:nvPr/>
        </p:nvCxnSpPr>
        <p:spPr>
          <a:xfrm flipH="1">
            <a:off x="1600200" y="1874520"/>
            <a:ext cx="914400" cy="758952"/>
          </a:xfrm>
          <a:prstGeom prst="line">
            <a:avLst/>
          </a:prstGeom>
          <a:ln w="16510">
            <a:solidFill>
              <a:srgbClr val="B7C7D9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2514600" y="1874520"/>
            <a:ext cx="914400" cy="758952"/>
          </a:xfrm>
          <a:prstGeom prst="line">
            <a:avLst/>
          </a:prstGeom>
          <a:ln w="16510">
            <a:solidFill>
              <a:srgbClr val="B7C7D9"/>
            </a:solidFill>
          </a:ln>
        </p:spPr>
      </p:cxnSp>
      <p:cxnSp>
        <p:nvCxnSpPr>
          <p:cNvPr id="6" name="Line 6"/>
          <p:cNvCxnSpPr/>
          <p:nvPr/>
        </p:nvCxnSpPr>
        <p:spPr>
          <a:xfrm flipH="1">
            <a:off x="1143000" y="2633472"/>
            <a:ext cx="457200" cy="768096"/>
          </a:xfrm>
          <a:prstGeom prst="line">
            <a:avLst/>
          </a:prstGeom>
          <a:ln w="16510">
            <a:solidFill>
              <a:srgbClr val="B7C7D9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600200" y="2633472"/>
            <a:ext cx="457200" cy="768096"/>
          </a:xfrm>
          <a:prstGeom prst="line">
            <a:avLst/>
          </a:prstGeom>
          <a:ln w="16510">
            <a:solidFill>
              <a:srgbClr val="B7C7D9"/>
            </a:solidFill>
          </a:ln>
        </p:spPr>
      </p:cxnSp>
      <p:cxnSp>
        <p:nvCxnSpPr>
          <p:cNvPr id="8" name="Line 8"/>
          <p:cNvCxnSpPr/>
          <p:nvPr/>
        </p:nvCxnSpPr>
        <p:spPr>
          <a:xfrm flipH="1">
            <a:off x="2971800" y="2633472"/>
            <a:ext cx="457200" cy="768096"/>
          </a:xfrm>
          <a:prstGeom prst="line">
            <a:avLst/>
          </a:prstGeom>
          <a:ln w="16510">
            <a:solidFill>
              <a:srgbClr val="B7C7D9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3429000" y="2633472"/>
            <a:ext cx="457200" cy="768096"/>
          </a:xfrm>
          <a:prstGeom prst="line">
            <a:avLst/>
          </a:prstGeom>
          <a:ln w="16510">
            <a:solidFill>
              <a:srgbClr val="B7C7D9"/>
            </a:solidFill>
          </a:ln>
        </p:spPr>
      </p:cxnSp>
      <p:sp>
        <p:nvSpPr>
          <p:cNvPr id="10" name="Shape 10"/>
          <p:cNvSpPr txBox="1"/>
          <p:nvPr/>
        </p:nvSpPr>
        <p:spPr>
          <a:xfrm>
            <a:off x="2267712" y="1627632"/>
            <a:ext cx="6583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1 2</a:t>
            </a:r>
            <a:endParaRPr lang="zh-CN" sz="1050"/>
          </a:p>
        </p:txBody>
      </p:sp>
      <p:sp>
        <p:nvSpPr>
          <p:cNvPr id="11" name="Shape 11"/>
          <p:cNvSpPr txBox="1"/>
          <p:nvPr/>
        </p:nvSpPr>
        <p:spPr>
          <a:xfrm>
            <a:off x="1353312" y="2395728"/>
            <a:ext cx="6583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endParaRPr lang="zh-CN" sz="1050"/>
          </a:p>
        </p:txBody>
      </p:sp>
      <p:sp>
        <p:nvSpPr>
          <p:cNvPr id="12" name="Shape 12"/>
          <p:cNvSpPr txBox="1"/>
          <p:nvPr/>
        </p:nvSpPr>
        <p:spPr>
          <a:xfrm>
            <a:off x="3182112" y="2395728"/>
            <a:ext cx="6583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endParaRPr lang="zh-CN" sz="1050"/>
          </a:p>
        </p:txBody>
      </p:sp>
      <p:sp>
        <p:nvSpPr>
          <p:cNvPr id="13" name="Shape 13"/>
          <p:cNvSpPr txBox="1"/>
          <p:nvPr/>
        </p:nvSpPr>
        <p:spPr>
          <a:xfrm>
            <a:off x="896112" y="3163824"/>
            <a:ext cx="6583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endParaRPr lang="zh-CN" sz="1050"/>
          </a:p>
        </p:txBody>
      </p:sp>
      <p:sp>
        <p:nvSpPr>
          <p:cNvPr id="14" name="Shape 14"/>
          <p:cNvSpPr txBox="1"/>
          <p:nvPr/>
        </p:nvSpPr>
        <p:spPr>
          <a:xfrm>
            <a:off x="1810512" y="3163824"/>
            <a:ext cx="6583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endParaRPr lang="zh-CN" sz="1050"/>
          </a:p>
        </p:txBody>
      </p:sp>
      <p:sp>
        <p:nvSpPr>
          <p:cNvPr id="15" name="Shape 15"/>
          <p:cNvSpPr txBox="1"/>
          <p:nvPr/>
        </p:nvSpPr>
        <p:spPr>
          <a:xfrm>
            <a:off x="2724912" y="3163824"/>
            <a:ext cx="658368" cy="365760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C00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 b c</a:t>
            </a:r>
            <a:endParaRPr lang="zh-CN" sz="1050"/>
          </a:p>
        </p:txBody>
      </p:sp>
      <p:sp>
        <p:nvSpPr>
          <p:cNvPr id="16" name="Shape 16"/>
          <p:cNvSpPr txBox="1"/>
          <p:nvPr/>
        </p:nvSpPr>
        <p:spPr>
          <a:xfrm>
            <a:off x="3639312" y="3163824"/>
            <a:ext cx="65836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endParaRPr lang="zh-CN" sz="1050"/>
          </a:p>
        </p:txBody>
      </p:sp>
      <p:sp>
        <p:nvSpPr>
          <p:cNvPr id="17" name="Shape 17"/>
          <p:cNvSpPr txBox="1"/>
          <p:nvPr/>
        </p:nvSpPr>
        <p:spPr>
          <a:xfrm>
            <a:off x="2615184" y="3657600"/>
            <a:ext cx="13716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capacity = 2</a:t>
            </a:r>
            <a:endParaRPr lang="zh-CN" sz="1200"/>
          </a:p>
          <a:p>
            <a:pPr algn="ctr"/>
            <a:r>
              <a:rPr 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overflow</a:t>
            </a:r>
            <a:endParaRPr lang="zh-CN" sz="1200"/>
          </a:p>
        </p:txBody>
      </p:sp>
      <p:cxnSp>
        <p:nvCxnSpPr>
          <p:cNvPr id="18" name="Line 18"/>
          <p:cNvCxnSpPr/>
          <p:nvPr/>
        </p:nvCxnSpPr>
        <p:spPr>
          <a:xfrm flipH="1">
            <a:off x="2999359" y="2757170"/>
            <a:ext cx="292735" cy="370205"/>
          </a:xfrm>
          <a:prstGeom prst="line">
            <a:avLst/>
          </a:prstGeom>
          <a:ln w="25400">
            <a:solidFill>
              <a:srgbClr val="C00000"/>
            </a:solidFill>
            <a:headEnd type="triangle" w="med" len="med"/>
          </a:ln>
        </p:spPr>
      </p:cxnSp>
      <p:sp>
        <p:nvSpPr>
          <p:cNvPr id="19" name="Shape 19"/>
          <p:cNvSpPr txBox="1"/>
          <p:nvPr/>
        </p:nvSpPr>
        <p:spPr>
          <a:xfrm>
            <a:off x="960120" y="4315968"/>
            <a:ext cx="416052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400" b="1">
                <a:solidFill>
                  <a:srgbClr val="178A46"/>
                </a:solidFill>
                <a:latin typeface="微软雅黑" panose="020B0503020204020204" charset="-122"/>
                <a:ea typeface="微软雅黑" panose="020B0503020204020204" charset="-122"/>
              </a:rPr>
              <a:t>仍在同一 root-to-leaf path 上</a:t>
            </a:r>
            <a:endParaRPr lang="zh-CN" sz="1400"/>
          </a:p>
        </p:txBody>
      </p:sp>
      <p:sp>
        <p:nvSpPr>
          <p:cNvPr id="20" name="Shape 20"/>
          <p:cNvSpPr txBox="1"/>
          <p:nvPr/>
        </p:nvSpPr>
        <p:spPr>
          <a:xfrm>
            <a:off x="5623560" y="145415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20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合法调整</a:t>
            </a:r>
            <a:endParaRPr lang="zh-CN" sz="2000"/>
          </a:p>
        </p:txBody>
      </p:sp>
      <p:sp>
        <p:nvSpPr>
          <p:cNvPr id="21" name="Shape 21"/>
          <p:cNvSpPr/>
          <p:nvPr/>
        </p:nvSpPr>
        <p:spPr>
          <a:xfrm>
            <a:off x="5577840" y="1901952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5806440" y="1828800"/>
            <a:ext cx="5074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块可以沿自己的路径向父节点移动</a:t>
            </a:r>
            <a:endParaRPr lang="zh-CN" sz="1620"/>
          </a:p>
        </p:txBody>
      </p:sp>
      <p:sp>
        <p:nvSpPr>
          <p:cNvPr id="23" name="Shape 23"/>
          <p:cNvSpPr/>
          <p:nvPr/>
        </p:nvSpPr>
        <p:spPr>
          <a:xfrm>
            <a:off x="5577840" y="2295144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5806440" y="2221992"/>
            <a:ext cx="5074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不能离开对应 root-to-leaf path</a:t>
            </a:r>
            <a:endParaRPr lang="zh-CN" sz="1620"/>
          </a:p>
        </p:txBody>
      </p:sp>
      <p:sp>
        <p:nvSpPr>
          <p:cNvPr id="25" name="Shape 25"/>
          <p:cNvSpPr/>
          <p:nvPr/>
        </p:nvSpPr>
        <p:spPr>
          <a:xfrm>
            <a:off x="5577840" y="2688336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26" name="Shape 26"/>
          <p:cNvSpPr txBox="1"/>
          <p:nvPr/>
        </p:nvSpPr>
        <p:spPr>
          <a:xfrm>
            <a:off x="5806440" y="2615184"/>
            <a:ext cx="5074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调整后仍满足 Path ORAM 主不变量</a:t>
            </a:r>
            <a:endParaRPr lang="zh-CN" sz="1620"/>
          </a:p>
        </p:txBody>
      </p:sp>
      <p:sp>
        <p:nvSpPr>
          <p:cNvPr id="27" name="Shape 27"/>
          <p:cNvSpPr txBox="1"/>
          <p:nvPr/>
        </p:nvSpPr>
        <p:spPr>
          <a:xfrm>
            <a:off x="5623560" y="3429000"/>
            <a:ext cx="3527425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安全要求及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Bulkor</a:t>
            </a:r>
            <a:r>
              <a: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做法</a:t>
            </a:r>
            <a:endParaRPr lang="zh-CN" sz="2000"/>
          </a:p>
        </p:txBody>
      </p:sp>
      <p:sp>
        <p:nvSpPr>
          <p:cNvPr id="28" name="Shape 28"/>
          <p:cNvSpPr/>
          <p:nvPr/>
        </p:nvSpPr>
        <p:spPr>
          <a:xfrm>
            <a:off x="5577840" y="4005072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5806440" y="3931920"/>
            <a:ext cx="5074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不能暴露哪个桶溢出</a:t>
            </a:r>
            <a:endParaRPr lang="zh-CN" sz="1620"/>
          </a:p>
        </p:txBody>
      </p:sp>
      <p:sp>
        <p:nvSpPr>
          <p:cNvPr id="30" name="Shape 30"/>
          <p:cNvSpPr/>
          <p:nvPr/>
        </p:nvSpPr>
        <p:spPr>
          <a:xfrm>
            <a:off x="5577840" y="4398264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31" name="Shape 31"/>
          <p:cNvSpPr txBox="1"/>
          <p:nvPr/>
        </p:nvSpPr>
        <p:spPr>
          <a:xfrm>
            <a:off x="5806440" y="4325112"/>
            <a:ext cx="5074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固定扫描 + occupancy counters</a:t>
            </a:r>
            <a:endParaRPr lang="zh-CN" sz="1620"/>
          </a:p>
        </p:txBody>
      </p:sp>
      <p:sp>
        <p:nvSpPr>
          <p:cNvPr id="32" name="Shape 32"/>
          <p:cNvSpPr/>
          <p:nvPr/>
        </p:nvSpPr>
        <p:spPr>
          <a:xfrm>
            <a:off x="5577840" y="4791456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5806440" y="4718304"/>
            <a:ext cx="5074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6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cmov 条件移动，避免数据相关分支</a:t>
            </a:r>
            <a:endParaRPr lang="zh-CN" sz="1620"/>
          </a:p>
        </p:txBody>
      </p:sp>
      <p:sp>
        <p:nvSpPr>
          <p:cNvPr id="34" name="Shape 34"/>
          <p:cNvSpPr txBox="1"/>
          <p:nvPr/>
        </p:nvSpPr>
        <p:spPr>
          <a:xfrm>
            <a:off x="1143000" y="5285105"/>
            <a:ext cx="9738360" cy="683895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6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OAdjustBucketID 的核心：既消除容量冲突，又不让调整过程泄漏数据分布</a:t>
            </a:r>
            <a:endParaRPr lang="zh-CN" sz="1600" b="1">
              <a:solidFill>
                <a:srgbClr val="1E4E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块向上移动后仍在合法路径上，所以 </a:t>
            </a:r>
            <a:r>
              <a:rPr lang="en-US" altLang="zh-CN" sz="16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Path ORAM </a:t>
            </a:r>
            <a:r>
              <a:rPr lang="zh-CN" altLang="en-US" sz="16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主不变量保持成立。</a:t>
            </a:r>
            <a:endParaRPr lang="zh-CN" altLang="en-US" sz="1600" b="1">
              <a:solidFill>
                <a:srgbClr val="1E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36" name="Shape 36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37" name="Shape 37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38" name="Shape 38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39" name="Shape 39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40" name="Shape 40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实现与性能结果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868680" y="1097280"/>
            <a:ext cx="1005840" cy="384048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1E4E8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endParaRPr lang="zh-CN" sz="1300"/>
          </a:p>
        </p:txBody>
      </p:sp>
      <p:sp>
        <p:nvSpPr>
          <p:cNvPr id="4" name="Shape 4"/>
          <p:cNvSpPr/>
          <p:nvPr/>
        </p:nvSpPr>
        <p:spPr>
          <a:xfrm>
            <a:off x="868680" y="1764792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1097280" y="1691640"/>
            <a:ext cx="3931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Intel SGX + Rust</a:t>
            </a:r>
            <a:endParaRPr lang="zh-CN" sz="1550"/>
          </a:p>
        </p:txBody>
      </p:sp>
      <p:sp>
        <p:nvSpPr>
          <p:cNvPr id="6" name="Shape 6"/>
          <p:cNvSpPr/>
          <p:nvPr/>
        </p:nvSpPr>
        <p:spPr>
          <a:xfrm>
            <a:off x="868680" y="2112264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1097280" y="2039112"/>
            <a:ext cx="3931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CMOV 实现 oblivious 操作</a:t>
            </a:r>
            <a:endParaRPr lang="zh-CN" sz="1550"/>
          </a:p>
        </p:txBody>
      </p:sp>
      <p:sp>
        <p:nvSpPr>
          <p:cNvPr id="8" name="Shape 8"/>
          <p:cNvSpPr/>
          <p:nvPr/>
        </p:nvSpPr>
        <p:spPr>
          <a:xfrm>
            <a:off x="868680" y="2459736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97280" y="2386584"/>
            <a:ext cx="3931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AES-NI 加速加解密</a:t>
            </a:r>
            <a:endParaRPr lang="zh-CN" sz="1550"/>
          </a:p>
        </p:txBody>
      </p:sp>
      <p:sp>
        <p:nvSpPr>
          <p:cNvPr id="10" name="Shape 10"/>
          <p:cNvSpPr/>
          <p:nvPr/>
        </p:nvSpPr>
        <p:spPr>
          <a:xfrm>
            <a:off x="868680" y="2807208"/>
            <a:ext cx="91440" cy="914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1097280" y="2734056"/>
            <a:ext cx="393192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sort / placement 多线程并行</a:t>
            </a:r>
            <a:endParaRPr lang="zh-CN" sz="1550"/>
          </a:p>
        </p:txBody>
      </p:sp>
      <p:sp>
        <p:nvSpPr>
          <p:cNvPr id="12" name="Shape 12"/>
          <p:cNvSpPr txBox="1"/>
          <p:nvPr/>
        </p:nvSpPr>
        <p:spPr>
          <a:xfrm>
            <a:off x="6080760" y="1097280"/>
            <a:ext cx="1417320" cy="384048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1E4E8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核心性能</a:t>
            </a:r>
            <a:endParaRPr lang="zh-CN" sz="1300"/>
          </a:p>
        </p:txBody>
      </p:sp>
      <p:sp>
        <p:nvSpPr>
          <p:cNvPr id="13" name="Shape 13"/>
          <p:cNvSpPr txBox="1"/>
          <p:nvPr/>
        </p:nvSpPr>
        <p:spPr>
          <a:xfrm>
            <a:off x="5989320" y="1664208"/>
            <a:ext cx="1965960" cy="65836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52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8.7x-54.6x</a:t>
            </a:r>
            <a:endParaRPr lang="zh-CN" sz="1520"/>
          </a:p>
          <a:p>
            <a:pPr algn="ctr"/>
            <a:r>
              <a:rPr lang="zh-CN" sz="152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vs. Oblix</a:t>
            </a:r>
            <a:endParaRPr lang="zh-CN" sz="1520"/>
          </a:p>
        </p:txBody>
      </p:sp>
      <p:sp>
        <p:nvSpPr>
          <p:cNvPr id="14" name="Shape 14"/>
          <p:cNvSpPr txBox="1"/>
          <p:nvPr/>
        </p:nvSpPr>
        <p:spPr>
          <a:xfrm>
            <a:off x="8183880" y="1664208"/>
            <a:ext cx="1965960" cy="65836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52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最高数百倍</a:t>
            </a:r>
            <a:endParaRPr lang="zh-CN" sz="1520"/>
          </a:p>
          <a:p>
            <a:pPr algn="ctr"/>
            <a:r>
              <a:rPr lang="zh-CN" sz="152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vs. ZeroTrace</a:t>
            </a:r>
            <a:endParaRPr lang="zh-CN" sz="1520"/>
          </a:p>
        </p:txBody>
      </p:sp>
      <p:sp>
        <p:nvSpPr>
          <p:cNvPr id="15" name="Shape 15"/>
          <p:cNvSpPr txBox="1"/>
          <p:nvPr/>
        </p:nvSpPr>
        <p:spPr>
          <a:xfrm>
            <a:off x="5989320" y="2487168"/>
            <a:ext cx="1965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2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22.8x-34.2x</a:t>
            </a:r>
            <a:endParaRPr lang="zh-CN" sz="1320"/>
          </a:p>
          <a:p>
            <a:pPr algn="ctr"/>
            <a:r>
              <a:rPr lang="zh-CN" sz="132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1kB disk 单线程</a:t>
            </a:r>
            <a:endParaRPr lang="zh-CN" sz="1320"/>
          </a:p>
        </p:txBody>
      </p:sp>
      <p:sp>
        <p:nvSpPr>
          <p:cNvPr id="16" name="Shape 16"/>
          <p:cNvSpPr txBox="1"/>
          <p:nvPr/>
        </p:nvSpPr>
        <p:spPr>
          <a:xfrm>
            <a:off x="8183880" y="2487168"/>
            <a:ext cx="1965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2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139.1x-160.6x</a:t>
            </a:r>
            <a:endParaRPr lang="zh-CN" sz="1320"/>
          </a:p>
          <a:p>
            <a:pPr algn="ctr"/>
            <a:r>
              <a:rPr lang="zh-CN" sz="132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 线程</a:t>
            </a:r>
            <a:endParaRPr lang="zh-CN" sz="1320"/>
          </a:p>
        </p:txBody>
      </p:sp>
      <p:sp>
        <p:nvSpPr>
          <p:cNvPr id="19" name="Shape 19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20" name="Shape 20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21" name="Shape 21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23" name="Shape 23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24" name="Shape 24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zh-CN" sz="100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2770" y="3279775"/>
            <a:ext cx="4385310" cy="30772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贡献、不足与未来想法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685800" y="1161288"/>
            <a:ext cx="1005840" cy="384048"/>
          </a:xfrm>
          <a:prstGeom prst="roundRect">
            <a:avLst/>
          </a:prstGeom>
          <a:solidFill>
            <a:srgbClr val="178A46"/>
          </a:solidFill>
          <a:ln w="12700">
            <a:solidFill>
              <a:srgbClr val="178A46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贡献</a:t>
            </a:r>
            <a:endParaRPr lang="zh-CN" sz="1300"/>
          </a:p>
        </p:txBody>
      </p:sp>
      <p:sp>
        <p:nvSpPr>
          <p:cNvPr id="4" name="Shape 4"/>
          <p:cNvSpPr/>
          <p:nvPr/>
        </p:nvSpPr>
        <p:spPr>
          <a:xfrm>
            <a:off x="685800" y="1737360"/>
            <a:ext cx="3246120" cy="3246120"/>
          </a:xfrm>
          <a:prstGeom prst="rect">
            <a:avLst/>
          </a:prstGeom>
          <a:solidFill>
            <a:srgbClr val="F2FAF5"/>
          </a:solidFill>
          <a:ln w="12700">
            <a:solidFill>
              <a:srgbClr val="D8E0E8"/>
            </a:solidFill>
          </a:ln>
        </p:spPr>
      </p:sp>
      <p:sp>
        <p:nvSpPr>
          <p:cNvPr id="5" name="Shape 5"/>
          <p:cNvSpPr/>
          <p:nvPr/>
        </p:nvSpPr>
        <p:spPr>
          <a:xfrm>
            <a:off x="941832" y="2176272"/>
            <a:ext cx="91440" cy="91440"/>
          </a:xfrm>
          <a:prstGeom prst="ellipse">
            <a:avLst/>
          </a:prstGeom>
          <a:solidFill>
            <a:srgbClr val="178A46"/>
          </a:solidFill>
          <a:ln w="12700">
            <a:solidFill>
              <a:srgbClr val="178A46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1170432" y="210312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定义 bulk loading 问题</a:t>
            </a:r>
            <a:endParaRPr lang="zh-CN" sz="1550"/>
          </a:p>
        </p:txBody>
      </p:sp>
      <p:sp>
        <p:nvSpPr>
          <p:cNvPr id="7" name="Shape 7"/>
          <p:cNvSpPr/>
          <p:nvPr/>
        </p:nvSpPr>
        <p:spPr>
          <a:xfrm>
            <a:off x="941832" y="2679192"/>
            <a:ext cx="91440" cy="91440"/>
          </a:xfrm>
          <a:prstGeom prst="ellipse">
            <a:avLst/>
          </a:prstGeom>
          <a:solidFill>
            <a:srgbClr val="178A46"/>
          </a:solidFill>
          <a:ln w="12700">
            <a:solidFill>
              <a:srgbClr val="178A46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1170432" y="260604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指出 shuffle 不安全</a:t>
            </a:r>
            <a:endParaRPr lang="zh-CN" sz="1550"/>
          </a:p>
        </p:txBody>
      </p:sp>
      <p:sp>
        <p:nvSpPr>
          <p:cNvPr id="9" name="Shape 9"/>
          <p:cNvSpPr/>
          <p:nvPr/>
        </p:nvSpPr>
        <p:spPr>
          <a:xfrm>
            <a:off x="941832" y="3182112"/>
            <a:ext cx="91440" cy="91440"/>
          </a:xfrm>
          <a:prstGeom prst="ellipse">
            <a:avLst/>
          </a:prstGeom>
          <a:solidFill>
            <a:srgbClr val="178A46"/>
          </a:solidFill>
          <a:ln w="12700">
            <a:solidFill>
              <a:srgbClr val="178A46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170432" y="310896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复杂度降到 O(N log² N)</a:t>
            </a:r>
            <a:endParaRPr lang="zh-CN" sz="1550"/>
          </a:p>
        </p:txBody>
      </p:sp>
      <p:sp>
        <p:nvSpPr>
          <p:cNvPr id="11" name="Shape 11"/>
          <p:cNvSpPr/>
          <p:nvPr/>
        </p:nvSpPr>
        <p:spPr>
          <a:xfrm>
            <a:off x="941832" y="3685032"/>
            <a:ext cx="91440" cy="91440"/>
          </a:xfrm>
          <a:prstGeom prst="ellipse">
            <a:avLst/>
          </a:prstGeom>
          <a:solidFill>
            <a:srgbClr val="178A46"/>
          </a:solidFill>
          <a:ln w="12700">
            <a:solidFill>
              <a:srgbClr val="178A46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1170432" y="361188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SGX 实现验证</a:t>
            </a:r>
            <a:endParaRPr lang="zh-CN" sz="1550"/>
          </a:p>
        </p:txBody>
      </p:sp>
      <p:sp>
        <p:nvSpPr>
          <p:cNvPr id="13" name="Shape 13"/>
          <p:cNvSpPr txBox="1"/>
          <p:nvPr/>
        </p:nvSpPr>
        <p:spPr>
          <a:xfrm>
            <a:off x="4507992" y="1161288"/>
            <a:ext cx="1005840" cy="384048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不足</a:t>
            </a:r>
            <a:endParaRPr lang="zh-CN" sz="1300"/>
          </a:p>
        </p:txBody>
      </p:sp>
      <p:sp>
        <p:nvSpPr>
          <p:cNvPr id="14" name="Shape 14"/>
          <p:cNvSpPr/>
          <p:nvPr/>
        </p:nvSpPr>
        <p:spPr>
          <a:xfrm>
            <a:off x="4507992" y="1737360"/>
            <a:ext cx="3246120" cy="3246120"/>
          </a:xfrm>
          <a:prstGeom prst="rect">
            <a:avLst/>
          </a:prstGeom>
          <a:solidFill>
            <a:srgbClr val="FFF4F4"/>
          </a:solidFill>
          <a:ln w="12700">
            <a:solidFill>
              <a:srgbClr val="D8E0E8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764024" y="2176272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4992624" y="210312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主要验证 Intel SGX</a:t>
            </a:r>
            <a:endParaRPr lang="zh-CN" sz="1550"/>
          </a:p>
        </p:txBody>
      </p:sp>
      <p:sp>
        <p:nvSpPr>
          <p:cNvPr id="17" name="Shape 17"/>
          <p:cNvSpPr/>
          <p:nvPr/>
        </p:nvSpPr>
        <p:spPr>
          <a:xfrm>
            <a:off x="4764024" y="2679192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4992624" y="260604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bitonic sort 仍较重</a:t>
            </a:r>
            <a:endParaRPr lang="zh-CN" sz="1550"/>
          </a:p>
        </p:txBody>
      </p:sp>
      <p:sp>
        <p:nvSpPr>
          <p:cNvPr id="19" name="Shape 19"/>
          <p:cNvSpPr/>
          <p:nvPr/>
        </p:nvSpPr>
        <p:spPr>
          <a:xfrm>
            <a:off x="4764024" y="3182112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4992624" y="310896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单盘实验场景有限</a:t>
            </a:r>
            <a:endParaRPr lang="zh-CN" sz="1550"/>
          </a:p>
        </p:txBody>
      </p:sp>
      <p:sp>
        <p:nvSpPr>
          <p:cNvPr id="21" name="Shape 21"/>
          <p:cNvSpPr txBox="1"/>
          <p:nvPr/>
        </p:nvSpPr>
        <p:spPr>
          <a:xfrm>
            <a:off x="8330184" y="1161288"/>
            <a:ext cx="1005840" cy="384048"/>
          </a:xfrm>
          <a:prstGeom prst="roundRect">
            <a:avLst/>
          </a:prstGeom>
          <a:solidFill>
            <a:srgbClr val="B07A00"/>
          </a:solidFill>
          <a:ln w="12700">
            <a:solidFill>
              <a:srgbClr val="B07A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未来想法</a:t>
            </a:r>
            <a:endParaRPr lang="zh-CN" sz="1300"/>
          </a:p>
        </p:txBody>
      </p:sp>
      <p:sp>
        <p:nvSpPr>
          <p:cNvPr id="22" name="Shape 22"/>
          <p:cNvSpPr/>
          <p:nvPr/>
        </p:nvSpPr>
        <p:spPr>
          <a:xfrm>
            <a:off x="8330184" y="1737360"/>
            <a:ext cx="3246120" cy="3246120"/>
          </a:xfrm>
          <a:prstGeom prst="rect">
            <a:avLst/>
          </a:prstGeom>
          <a:solidFill>
            <a:srgbClr val="FFF9EA"/>
          </a:solidFill>
          <a:ln w="12700">
            <a:solidFill>
              <a:srgbClr val="D8E0E8"/>
            </a:solidFill>
          </a:ln>
        </p:spPr>
      </p:sp>
      <p:sp>
        <p:nvSpPr>
          <p:cNvPr id="23" name="Shape 23"/>
          <p:cNvSpPr/>
          <p:nvPr/>
        </p:nvSpPr>
        <p:spPr>
          <a:xfrm>
            <a:off x="8586216" y="2176272"/>
            <a:ext cx="91440" cy="91440"/>
          </a:xfrm>
          <a:prstGeom prst="ellipse">
            <a:avLst/>
          </a:prstGeom>
          <a:solidFill>
            <a:srgbClr val="B07A00"/>
          </a:solidFill>
          <a:ln w="12700">
            <a:solidFill>
              <a:srgbClr val="B07A00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8814816" y="210312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低常数 oblivious sort</a:t>
            </a:r>
            <a:endParaRPr lang="zh-CN" sz="1550"/>
          </a:p>
        </p:txBody>
      </p:sp>
      <p:sp>
        <p:nvSpPr>
          <p:cNvPr id="25" name="Shape 25"/>
          <p:cNvSpPr/>
          <p:nvPr/>
        </p:nvSpPr>
        <p:spPr>
          <a:xfrm>
            <a:off x="8586216" y="2679192"/>
            <a:ext cx="91440" cy="91440"/>
          </a:xfrm>
          <a:prstGeom prst="ellipse">
            <a:avLst/>
          </a:prstGeom>
          <a:solidFill>
            <a:srgbClr val="B07A00"/>
          </a:solidFill>
          <a:ln w="12700">
            <a:solidFill>
              <a:srgbClr val="B07A00"/>
            </a:solidFill>
          </a:ln>
        </p:spPr>
      </p:sp>
      <p:sp>
        <p:nvSpPr>
          <p:cNvPr id="26" name="Shape 26"/>
          <p:cNvSpPr txBox="1"/>
          <p:nvPr/>
        </p:nvSpPr>
        <p:spPr>
          <a:xfrm>
            <a:off x="8814816" y="260604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面向 SSD/NVMe 优化</a:t>
            </a:r>
            <a:endParaRPr lang="zh-CN" sz="1550"/>
          </a:p>
        </p:txBody>
      </p:sp>
      <p:sp>
        <p:nvSpPr>
          <p:cNvPr id="27" name="Shape 27"/>
          <p:cNvSpPr/>
          <p:nvPr/>
        </p:nvSpPr>
        <p:spPr>
          <a:xfrm>
            <a:off x="8586216" y="3182112"/>
            <a:ext cx="91440" cy="91440"/>
          </a:xfrm>
          <a:prstGeom prst="ellipse">
            <a:avLst/>
          </a:prstGeom>
          <a:solidFill>
            <a:srgbClr val="B07A00"/>
          </a:solidFill>
          <a:ln w="12700">
            <a:solidFill>
              <a:srgbClr val="B07A00"/>
            </a:solidFill>
          </a:ln>
        </p:spPr>
      </p:sp>
      <p:sp>
        <p:nvSpPr>
          <p:cNvPr id="28" name="Shape 28"/>
          <p:cNvSpPr txBox="1"/>
          <p:nvPr/>
        </p:nvSpPr>
        <p:spPr>
          <a:xfrm>
            <a:off x="8814816" y="310896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增量式 ORAM 维护</a:t>
            </a:r>
            <a:endParaRPr lang="zh-CN" sz="1550"/>
          </a:p>
        </p:txBody>
      </p:sp>
      <p:sp>
        <p:nvSpPr>
          <p:cNvPr id="29" name="Shape 29"/>
          <p:cNvSpPr/>
          <p:nvPr/>
        </p:nvSpPr>
        <p:spPr>
          <a:xfrm>
            <a:off x="8586216" y="3685032"/>
            <a:ext cx="91440" cy="91440"/>
          </a:xfrm>
          <a:prstGeom prst="ellipse">
            <a:avLst/>
          </a:prstGeom>
          <a:solidFill>
            <a:srgbClr val="B07A00"/>
          </a:solidFill>
          <a:ln w="12700">
            <a:solidFill>
              <a:srgbClr val="B07A00"/>
            </a:solidFill>
          </a:ln>
        </p:spPr>
      </p:sp>
      <p:sp>
        <p:nvSpPr>
          <p:cNvPr id="30" name="Shape 30"/>
          <p:cNvSpPr txBox="1"/>
          <p:nvPr/>
        </p:nvSpPr>
        <p:spPr>
          <a:xfrm>
            <a:off x="8814816" y="3611880"/>
            <a:ext cx="260604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5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集成安全数据库</a:t>
            </a:r>
            <a:endParaRPr lang="zh-CN" sz="1550"/>
          </a:p>
        </p:txBody>
      </p:sp>
      <p:sp>
        <p:nvSpPr>
          <p:cNvPr id="31" name="Shape 31"/>
          <p:cNvSpPr txBox="1"/>
          <p:nvPr/>
        </p:nvSpPr>
        <p:spPr>
          <a:xfrm>
            <a:off x="1005840" y="5532120"/>
            <a:ext cx="102412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5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我的理解：安全系统也要关注初始化、恢复和布局转换阶段。</a:t>
            </a:r>
            <a:endParaRPr lang="zh-CN" sz="1850"/>
          </a:p>
        </p:txBody>
      </p:sp>
      <p:sp>
        <p:nvSpPr>
          <p:cNvPr id="32" name="Shape 32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33" name="Shape 33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34" name="Shape 34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35" name="Shape 35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36" name="Shape 36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37" name="Shape 37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zh-CN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2" y="91440"/>
            <a:ext cx="10789920" cy="457200"/>
          </a:xfrm>
        </p:spPr>
        <p:txBody>
          <a:bodyPr/>
          <a:lstStyle/>
          <a:p>
            <a:pPr algn="l"/>
            <a:r>
              <a:rPr 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sz="2800"/>
          </a:p>
        </p:txBody>
      </p:sp>
      <p:sp>
        <p:nvSpPr>
          <p:cNvPr id="3" name="Shape 3"/>
          <p:cNvSpPr txBox="1"/>
          <p:nvPr/>
        </p:nvSpPr>
        <p:spPr>
          <a:xfrm>
            <a:off x="914400" y="1234440"/>
            <a:ext cx="10332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1800"/>
          </a:p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加密不能隐藏访问模式，ORAM 用于解决这一问题</a:t>
            </a:r>
            <a:endParaRPr lang="zh-CN" sz="1800"/>
          </a:p>
        </p:txBody>
      </p:sp>
      <p:sp>
        <p:nvSpPr>
          <p:cNvPr id="4" name="Shape 4"/>
          <p:cNvSpPr txBox="1"/>
          <p:nvPr/>
        </p:nvSpPr>
        <p:spPr>
          <a:xfrm>
            <a:off x="914400" y="2304288"/>
            <a:ext cx="10332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sz="1800"/>
          </a:p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ORAM 初始化本身也可能成为安全系统瓶颈</a:t>
            </a:r>
            <a:endParaRPr lang="zh-CN" sz="1800"/>
          </a:p>
        </p:txBody>
      </p:sp>
      <p:sp>
        <p:nvSpPr>
          <p:cNvPr id="5" name="Shape 5"/>
          <p:cNvSpPr txBox="1"/>
          <p:nvPr/>
        </p:nvSpPr>
        <p:spPr>
          <a:xfrm>
            <a:off x="914400" y="3374136"/>
            <a:ext cx="10332720" cy="74980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F7FC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800"/>
          </a:p>
          <a:p>
            <a:pPr algn="ctr"/>
            <a:r>
              <a:rPr lang="zh-CN"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Bulkor：先随机 leaf label，再 obliviously 调整布局</a:t>
            </a:r>
            <a:endParaRPr lang="zh-CN" sz="1800"/>
          </a:p>
        </p:txBody>
      </p:sp>
      <p:sp>
        <p:nvSpPr>
          <p:cNvPr id="6" name="Shape 6"/>
          <p:cNvSpPr txBox="1"/>
          <p:nvPr/>
        </p:nvSpPr>
        <p:spPr>
          <a:xfrm>
            <a:off x="1234440" y="4800600"/>
            <a:ext cx="969264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2300" b="1">
                <a:solidFill>
                  <a:srgbClr val="1E4E8C"/>
                </a:solidFill>
                <a:latin typeface="微软雅黑" panose="020B0503020204020204" charset="-122"/>
                <a:ea typeface="微软雅黑" panose="020B0503020204020204" charset="-122"/>
              </a:rPr>
              <a:t>安全系统不仅要访问得安全，也要构建得安全、恢复得高效。</a:t>
            </a:r>
            <a:endParaRPr lang="zh-CN" sz="2300"/>
          </a:p>
        </p:txBody>
      </p:sp>
      <p:sp>
        <p:nvSpPr>
          <p:cNvPr id="7" name="Shape 7"/>
          <p:cNvSpPr txBox="1"/>
          <p:nvPr/>
        </p:nvSpPr>
        <p:spPr>
          <a:xfrm>
            <a:off x="4754880" y="5440680"/>
            <a:ext cx="2651760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3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谢谢！</a:t>
            </a:r>
            <a:endParaRPr lang="zh-CN" sz="3200"/>
          </a:p>
        </p:txBody>
      </p:sp>
      <p:sp>
        <p:nvSpPr>
          <p:cNvPr id="8" name="Shape 8"/>
          <p:cNvSpPr/>
          <p:nvPr/>
        </p:nvSpPr>
        <p:spPr>
          <a:xfrm>
            <a:off x="0" y="6547104"/>
            <a:ext cx="3520440" cy="310896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</a:ln>
        </p:spPr>
      </p:sp>
      <p:sp>
        <p:nvSpPr>
          <p:cNvPr id="9" name="Shape 9"/>
          <p:cNvSpPr/>
          <p:nvPr/>
        </p:nvSpPr>
        <p:spPr>
          <a:xfrm>
            <a:off x="3520440" y="6547104"/>
            <a:ext cx="736092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</p:sp>
      <p:sp>
        <p:nvSpPr>
          <p:cNvPr id="10" name="Shape 10"/>
          <p:cNvSpPr/>
          <p:nvPr/>
        </p:nvSpPr>
        <p:spPr>
          <a:xfrm>
            <a:off x="10881360" y="6547104"/>
            <a:ext cx="1307592" cy="310896"/>
          </a:xfrm>
          <a:prstGeom prst="rect">
            <a:avLst/>
          </a:prstGeom>
          <a:solidFill>
            <a:srgbClr val="1D365F"/>
          </a:solidFill>
          <a:ln w="12700">
            <a:solidFill>
              <a:srgbClr val="1D365F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640080" y="6611112"/>
            <a:ext cx="233172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数据安全课程论文阅读</a:t>
            </a:r>
            <a:endParaRPr lang="zh-CN" sz="1000"/>
          </a:p>
        </p:txBody>
      </p:sp>
      <p:sp>
        <p:nvSpPr>
          <p:cNvPr id="12" name="Shape 12"/>
          <p:cNvSpPr txBox="1"/>
          <p:nvPr/>
        </p:nvSpPr>
        <p:spPr>
          <a:xfrm>
            <a:off x="3840480" y="6611112"/>
            <a:ext cx="658368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Bulkor: Enabling Bulk Loading for Path ORAM</a:t>
            </a:r>
            <a:endParaRPr lang="zh-CN" sz="1000"/>
          </a:p>
        </p:txBody>
      </p:sp>
      <p:sp>
        <p:nvSpPr>
          <p:cNvPr id="13" name="Shape 13"/>
          <p:cNvSpPr txBox="1"/>
          <p:nvPr/>
        </p:nvSpPr>
        <p:spPr>
          <a:xfrm>
            <a:off x="11356848" y="6611112"/>
            <a:ext cx="2286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zh-CN" sz="10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2908</Words>
  <Application>WPS 演示</Application>
  <PresentationFormat>宽屏</PresentationFormat>
  <Paragraphs>355</Paragraphs>
  <Slides>13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黑体</vt:lpstr>
      <vt:lpstr>华文楷体</vt:lpstr>
      <vt:lpstr>华文新魏</vt:lpstr>
      <vt:lpstr>Times New Roman</vt:lpstr>
      <vt:lpstr>微软雅黑</vt:lpstr>
      <vt:lpstr>Arial Unicode MS</vt:lpstr>
      <vt:lpstr>Office Theme</vt:lpstr>
      <vt:lpstr>for Path ORAM</vt:lpstr>
      <vt:lpstr>汇报路线</vt:lpstr>
      <vt:lpstr>只加密数据为什么还不够</vt:lpstr>
      <vt:lpstr>ORAM 与 Path ORAM</vt:lpstr>
      <vt:lpstr>TEE 带来的机会与新问题</vt:lpstr>
      <vt:lpstr>本文问题：如何批量构建 ORAM</vt:lpstr>
      <vt:lpstr>看似自然但错误的方案</vt:lpstr>
      <vt:lpstr>Bulkor 的核心思想</vt:lpstr>
      <vt:lpstr>关键步骤一：递归构建 position map</vt:lpstr>
      <vt:lpstr>关键步骤二：解决 bucket overflow</vt:lpstr>
      <vt:lpstr>实现与性能结果</vt:lpstr>
      <vt:lpstr>贡献、不足与未来想法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MingMing Cheng</dc:creator>
  <cp:lastModifiedBy>WPS_1688353737</cp:lastModifiedBy>
  <cp:revision>771</cp:revision>
  <dcterms:created xsi:type="dcterms:W3CDTF">2019-08-31T02:02:00Z</dcterms:created>
  <dcterms:modified xsi:type="dcterms:W3CDTF">2026-07-01T13:58:34Z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2052-12.1.0.26895</vt:lpwstr>
  </property>
  <property fmtid="{D5CDD505-2E9C-101B-9397-08002B2CF9AE}" pid="5" name="ICV">
    <vt:lpwstr>6455AD64F4F1414ABA4D7DF4ABE02B55_12</vt:lpwstr>
  </property>
</Properties>
</file>